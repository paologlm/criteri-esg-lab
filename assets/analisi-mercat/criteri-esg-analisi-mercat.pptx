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86457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674582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 ESG · ANÀLISI INTERNA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274458" y="371475"/>
            <a:ext cx="135519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spc="113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VOLUM 01 · JULIOL 2026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514350" y="1208410"/>
            <a:ext cx="8629650" cy="17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spc="225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ANÀLISI DE MERCAT I POTENCIAL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574081"/>
            <a:ext cx="8629650" cy="954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73"/>
              </a:lnSpc>
              <a:buNone/>
            </a:pPr>
            <a:r>
              <a:rPr lang="en-US" sz="8775" spc="-307" kern="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8073"/>
              </a:lnSpc>
              <a:buNone/>
            </a:pPr>
            <a:r>
              <a:rPr lang="en-US" sz="8775" spc="-307" kern="0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.</a:t>
            </a:r>
            <a:endParaRPr lang="en-US" sz="8775" dirty="0"/>
          </a:p>
        </p:txBody>
      </p:sp>
      <p:sp>
        <p:nvSpPr>
          <p:cNvPr id="7" name="Text 5"/>
          <p:cNvSpPr/>
          <p:nvPr/>
        </p:nvSpPr>
        <p:spPr>
          <a:xfrm>
            <a:off x="514350" y="2556458"/>
            <a:ext cx="8629650" cy="70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5400" i="1" spc="-108" kern="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</a:t>
            </a:r>
            <a:pPr algn="l" indent="0" marL="0">
              <a:lnSpc>
                <a:spcPts val="5130"/>
              </a:lnSpc>
              <a:buNone/>
            </a:pPr>
            <a:r>
              <a:rPr lang="en-US" sz="5400" i="1" spc="-108" kern="0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14350" y="3465054"/>
            <a:ext cx="5184648" cy="260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63" i="1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Mercat ESG, competidors i potencial de negoci.</a:t>
            </a:r>
            <a:endParaRPr lang="en-US" sz="1463" dirty="0"/>
          </a:p>
        </p:txBody>
      </p:sp>
      <p:sp>
        <p:nvSpPr>
          <p:cNvPr id="9" name="Shape 7"/>
          <p:cNvSpPr/>
          <p:nvPr/>
        </p:nvSpPr>
        <p:spPr>
          <a:xfrm>
            <a:off x="514350" y="4328443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4446315"/>
            <a:ext cx="4023360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4350" y="4600575"/>
            <a:ext cx="29471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Juliol 2026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3314700" y="4446315"/>
            <a:ext cx="3572304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AUDIÈNCIA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14700" y="4600575"/>
            <a:ext cx="2715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 Criteri ESG · Paolo + Roser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5057346" y="4446315"/>
            <a:ext cx="3572304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89320" y="4600575"/>
            <a:ext cx="26403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Anàlisi de mercat v1.0</a:t>
            </a:r>
            <a:endParaRPr lang="en-US" sz="8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9307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4325"/>
            <a:ext cx="788413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MERCAT GLOBAL ·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45652" y="314325"/>
            <a:ext cx="35111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10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457200" y="661467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El mercat ESG global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57200" y="1059284"/>
            <a:ext cx="342900" cy="21431"/>
          </a:xfrm>
          <a:prstGeom prst="rect">
            <a:avLst/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180728"/>
            <a:ext cx="863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9C8B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 mercat en creixement sostingut.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60772" y="1512912"/>
            <a:ext cx="4057650" cy="1496281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0081" y="1689385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MIDA DEL MERCAT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71950" y="167364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650081" y="1902247"/>
            <a:ext cx="367903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8.120M$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650081" y="2373734"/>
            <a:ext cx="3679031" cy="2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Mercat global de consultoria ESG (2024) →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8A55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39.000M$ (2034)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0081" y="2687724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2762734"/>
            <a:ext cx="1165153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MARKET.US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0081" y="275916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6" name="Text 14"/>
          <p:cNvSpPr/>
          <p:nvPr/>
        </p:nvSpPr>
        <p:spPr>
          <a:xfrm>
            <a:off x="4625578" y="1512912"/>
            <a:ext cx="4057650" cy="1496281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4888" y="1689385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ACTIUS ASG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36756" y="167364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4814888" y="1902247"/>
            <a:ext cx="367903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bilions $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4814888" y="2373734"/>
            <a:ext cx="3679031" cy="2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Actius gestionats amb criteris ASG (global, 2025).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14888" y="2687724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4906" y="2762734"/>
            <a:ext cx="1165153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BLOOMBERG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4888" y="275916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24" name="Text 22"/>
          <p:cNvSpPr/>
          <p:nvPr/>
        </p:nvSpPr>
        <p:spPr>
          <a:xfrm>
            <a:off x="460772" y="3116349"/>
            <a:ext cx="4057650" cy="1496392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0081" y="3292822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REPORTATGE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71950" y="32770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650081" y="3505684"/>
            <a:ext cx="367903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22.700+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650081" y="3977171"/>
            <a:ext cx="3679031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Empreses que reporten a CDP (2024).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0081" y="4291273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" y="4366282"/>
            <a:ext cx="728353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CDP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0081" y="436271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32" name="Text 30"/>
          <p:cNvSpPr/>
          <p:nvPr/>
        </p:nvSpPr>
        <p:spPr>
          <a:xfrm>
            <a:off x="4625578" y="3116349"/>
            <a:ext cx="4057650" cy="1496392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14888" y="3292822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VALORACIONS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36756" y="32770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4814888" y="3505684"/>
            <a:ext cx="367903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100.000+</a:t>
            </a:r>
            <a:endParaRPr lang="en-US" sz="3150" dirty="0"/>
          </a:p>
        </p:txBody>
      </p:sp>
      <p:sp>
        <p:nvSpPr>
          <p:cNvPr id="36" name="Text 34"/>
          <p:cNvSpPr/>
          <p:nvPr/>
        </p:nvSpPr>
        <p:spPr>
          <a:xfrm>
            <a:off x="4814888" y="3977171"/>
            <a:ext cx="3679031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Empreses valorades per EcoVadis (global).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14888" y="4291273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4906" y="4366282"/>
            <a:ext cx="1092378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ECOVADIS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14888" y="436271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40" name="Shape 38"/>
          <p:cNvSpPr/>
          <p:nvPr/>
        </p:nvSpPr>
        <p:spPr>
          <a:xfrm>
            <a:off x="457200" y="4719898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94907"/>
            <a:ext cx="693792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·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09408" y="4806293"/>
            <a:ext cx="1277392" cy="137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Anàlisi de mercat · 02 / 10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9307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4325"/>
            <a:ext cx="788413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MERCAT ESPANYOL ·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45652" y="314325"/>
            <a:ext cx="35111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10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457200" y="661467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El mercat ESG espanyol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57200" y="1059284"/>
            <a:ext cx="342900" cy="21431"/>
          </a:xfrm>
          <a:prstGeom prst="rect">
            <a:avLst/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180728"/>
            <a:ext cx="863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9C8B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 nínxol amb mercat captiu i mercat lliure.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60772" y="1512912"/>
            <a:ext cx="4057650" cy="1496281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0081" y="1689385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ACTIUS ASG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71950" y="167364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650081" y="1902247"/>
            <a:ext cx="367903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236.894M€</a:t>
            </a:r>
            <a:endParaRPr lang="en-US" sz="2813" dirty="0"/>
          </a:p>
        </p:txBody>
      </p:sp>
      <p:sp>
        <p:nvSpPr>
          <p:cNvPr id="12" name="Text 10"/>
          <p:cNvSpPr/>
          <p:nvPr/>
        </p:nvSpPr>
        <p:spPr>
          <a:xfrm>
            <a:off x="650081" y="2330872"/>
            <a:ext cx="3679031" cy="320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Actius ASG gestionats per gestores espanyoles (2024).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0081" y="2687724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2762734"/>
            <a:ext cx="1092378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SPAINSIF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0081" y="275916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6" name="Text 14"/>
          <p:cNvSpPr/>
          <p:nvPr/>
        </p:nvSpPr>
        <p:spPr>
          <a:xfrm>
            <a:off x="4625578" y="1512912"/>
            <a:ext cx="4057650" cy="1496281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4888" y="1689385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CSRD POST-OMNIBUS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36756" y="167364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4814888" y="1902247"/>
            <a:ext cx="367903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~5.500</a:t>
            </a:r>
            <a:endParaRPr lang="en-US" sz="2813" dirty="0"/>
          </a:p>
        </p:txBody>
      </p:sp>
      <p:sp>
        <p:nvSpPr>
          <p:cNvPr id="20" name="Text 18"/>
          <p:cNvSpPr/>
          <p:nvPr/>
        </p:nvSpPr>
        <p:spPr>
          <a:xfrm>
            <a:off x="4814888" y="2330872"/>
            <a:ext cx="3679031" cy="320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Empreses afectades per CSRD a Espanya (post-Omnibus).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14888" y="2687724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4906" y="2762734"/>
            <a:ext cx="1529329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PWC / OSAPIENS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4888" y="275916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24" name="Text 22"/>
          <p:cNvSpPr/>
          <p:nvPr/>
        </p:nvSpPr>
        <p:spPr>
          <a:xfrm>
            <a:off x="460772" y="3116349"/>
            <a:ext cx="4057650" cy="1496392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0081" y="3292822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ECONOMIA SOCIAL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71950" y="32770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650081" y="3505684"/>
            <a:ext cx="367903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16.000+</a:t>
            </a:r>
            <a:endParaRPr lang="en-US" sz="2813" dirty="0"/>
          </a:p>
        </p:txBody>
      </p:sp>
      <p:sp>
        <p:nvSpPr>
          <p:cNvPr id="28" name="Text 26"/>
          <p:cNvSpPr/>
          <p:nvPr/>
        </p:nvSpPr>
        <p:spPr>
          <a:xfrm>
            <a:off x="650081" y="3934309"/>
            <a:ext cx="3679031" cy="32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Cooperatives creades l'última dècada (economia social).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0081" y="4291273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" y="4366282"/>
            <a:ext cx="873902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CEPES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0081" y="436271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32" name="Text 30"/>
          <p:cNvSpPr/>
          <p:nvPr/>
        </p:nvSpPr>
        <p:spPr>
          <a:xfrm>
            <a:off x="4625578" y="3116349"/>
            <a:ext cx="4057650" cy="1496392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14888" y="3292822"/>
            <a:ext cx="3507581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PROFESSIONALS ESG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36756" y="32770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4814888" y="3505684"/>
            <a:ext cx="367903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10.000–17.000</a:t>
            </a:r>
            <a:endParaRPr lang="en-US" sz="2813" dirty="0"/>
          </a:p>
        </p:txBody>
      </p:sp>
      <p:sp>
        <p:nvSpPr>
          <p:cNvPr id="36" name="Text 34"/>
          <p:cNvSpPr/>
          <p:nvPr/>
        </p:nvSpPr>
        <p:spPr>
          <a:xfrm>
            <a:off x="4814888" y="3934309"/>
            <a:ext cx="3679031" cy="32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Professionals ESG a Espanya (estimació).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14888" y="4291273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4906" y="4366282"/>
            <a:ext cx="1019603" cy="1000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· CRITERI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14888" y="436271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40" name="Shape 38"/>
          <p:cNvSpPr/>
          <p:nvPr/>
        </p:nvSpPr>
        <p:spPr>
          <a:xfrm>
            <a:off x="457200" y="4719898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94907"/>
            <a:ext cx="693792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·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09408" y="4806293"/>
            <a:ext cx="1277392" cy="137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Anàlisi de mercat · 03 / 10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9307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4325"/>
            <a:ext cx="788413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CERTIFICACIONS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45652" y="314325"/>
            <a:ext cx="35111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10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457200" y="661467"/>
            <a:ext cx="3840659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Certificacions ESG a Espanya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57200" y="1016422"/>
            <a:ext cx="342900" cy="21431"/>
          </a:xfrm>
          <a:prstGeom prst="rect">
            <a:avLst/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3940" y="874998"/>
            <a:ext cx="1751378" cy="23823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CERTIFICACIONS · 5 EIXOS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37865"/>
          <a:ext cx="8229600" cy="914400"/>
        </p:xfrm>
        <a:graphic>
          <a:graphicData uri="http://schemas.openxmlformats.org/drawingml/2006/table">
            <a:tbl>
              <a:tblPr/>
              <a:tblGrid>
                <a:gridCol w="1808931"/>
                <a:gridCol w="1315566"/>
                <a:gridCol w="3124498"/>
                <a:gridCol w="197346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55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Certificació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114300" marT="114300" marB="78581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55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Empreses 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114300" marT="114300" marB="78581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55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Què mesura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114300" marT="114300" marB="78581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55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Preu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114300" marT="114300" marB="78581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EcoVadis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~6.000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Cadena de subministrament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979–15.000 €/any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 Corp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Impacte integral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500–50.000 €/any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SGE 21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~60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Gestió ètica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3.000–10.000 €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ISO 14001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20.836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Gestió ambiental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2.000–8.000 €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Pacto Mundial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1.890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 principis + ODS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Gratis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CDP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Emissions, aigua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Gratis / 9.500 €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GRI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94% IBEX 35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Reporting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Gratis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2C181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TCFD</a:t>
                      </a:r>
                      <a:endParaRPr lang="en-US" sz="816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87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Riscos climàtics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18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Gratis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114300" marT="114300" marB="64294" anchor="ctr">
                    <a:lnL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C9B8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947480"/>
            <a:ext cx="8229600" cy="500063"/>
          </a:xfrm>
          <a:prstGeom prst="roundRect">
            <a:avLst>
              <a:gd name="adj" fmla="val 7619"/>
            </a:avLst>
          </a:prstGeom>
          <a:solidFill>
            <a:srgbClr val="B8733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1488" y="3947480"/>
            <a:ext cx="0" cy="500063"/>
          </a:xfrm>
          <a:prstGeom prst="line">
            <a:avLst/>
          </a:prstGeom>
          <a:noFill/>
          <a:ln w="28575">
            <a:solidFill>
              <a:srgbClr val="B87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938" y="4047492"/>
            <a:ext cx="300038" cy="300038"/>
          </a:xfrm>
          <a:prstGeom prst="ellipse">
            <a:avLst/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79013" y="408356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EFE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1071563" y="4115581"/>
            <a:ext cx="7458075" cy="1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8A55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25.000+ empreses espanyoles</a:t>
            </a:r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amb certificació ESG activa — </a:t>
            </a:r>
            <a:pPr algn="l" indent="0" marL="0">
              <a:lnSpc>
                <a:spcPts val="1291"/>
              </a:lnSpc>
              <a:buNone/>
            </a:pPr>
            <a:r>
              <a:rPr lang="en-US" sz="956" i="1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públic natural de Criteri.</a:t>
            </a:r>
            <a:endParaRPr lang="en-US" sz="956" dirty="0"/>
          </a:p>
        </p:txBody>
      </p:sp>
      <p:sp>
        <p:nvSpPr>
          <p:cNvPr id="14" name="Shape 11"/>
          <p:cNvSpPr/>
          <p:nvPr/>
        </p:nvSpPr>
        <p:spPr>
          <a:xfrm>
            <a:off x="457200" y="4551127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626136"/>
            <a:ext cx="693792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·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409408" y="4637522"/>
            <a:ext cx="1277392" cy="137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Anàlisi de mercat · 04 / 10</a:t>
            </a:r>
            <a:endParaRPr lang="en-US" sz="61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9307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4325"/>
            <a:ext cx="788413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COMPETIDORS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45652" y="314325"/>
            <a:ext cx="35111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10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457200" y="647179"/>
            <a:ext cx="2826916" cy="31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Competidors espanyols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57200" y="987847"/>
            <a:ext cx="3263069" cy="197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i="1" dirty="0">
                <a:solidFill>
                  <a:srgbClr val="9C8B7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Contingut vs serveis.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45784" y="1007827"/>
            <a:ext cx="1616553" cy="23823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CATEGORIES · 13 ACTORS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0772" y="1274266"/>
            <a:ext cx="4029075" cy="2797783"/>
          </a:xfrm>
          <a:prstGeom prst="roundRect">
            <a:avLst>
              <a:gd name="adj" fmla="val 2043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5794" y="1791407"/>
            <a:ext cx="3679031" cy="0"/>
          </a:xfrm>
          <a:prstGeom prst="line">
            <a:avLst/>
          </a:prstGeom>
          <a:noFill/>
          <a:ln w="14288">
            <a:solidFill>
              <a:srgbClr val="B87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794" y="144527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6868" y="146634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950119" y="1420713"/>
            <a:ext cx="1805147" cy="1360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1069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Competidors de contingut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950119" y="1584238"/>
            <a:ext cx="19313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MITJANS · INFORMES · NEWSLETTERS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35794" y="1855701"/>
            <a:ext cx="3679031" cy="220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Foréticainformes gratis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Pacto Mundial1.890 participants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Expansión~50.000 lectors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País Retina~80.000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Cinco Días ESG~15.000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Confidencial Hora Verde~15.000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Economista ESG~10.000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Spainsif~1.500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54153" y="1274266"/>
            <a:ext cx="4029075" cy="2797783"/>
          </a:xfrm>
          <a:prstGeom prst="roundRect">
            <a:avLst>
              <a:gd name="adj" fmla="val 2043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29175" y="1791407"/>
            <a:ext cx="3679031" cy="0"/>
          </a:xfrm>
          <a:prstGeom prst="line">
            <a:avLst/>
          </a:prstGeom>
          <a:noFill/>
          <a:ln w="14288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9175" y="144527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50249" y="146634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5143500" y="1420713"/>
            <a:ext cx="1918013" cy="1360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1069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Competidors de serveis</a:t>
            </a:r>
            <a:endParaRPr lang="en-US" sz="1069" dirty="0"/>
          </a:p>
        </p:txBody>
      </p:sp>
      <p:sp>
        <p:nvSpPr>
          <p:cNvPr id="20" name="Text 18"/>
          <p:cNvSpPr/>
          <p:nvPr/>
        </p:nvSpPr>
        <p:spPr>
          <a:xfrm>
            <a:off x="5143500" y="1584238"/>
            <a:ext cx="20607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CONSULTORIA · AUDITORIES · RATINGS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829175" y="1855701"/>
            <a:ext cx="3679031" cy="137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Big Four50.000–500.000 €/projecte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EcoVadis979–15.000 €/any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DNV / AENOR2.000–15.000 €/auditoria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MSCI / Sustainalytics20.000–100.000 €/any</a:t>
            </a:r>
            <a:endParaRPr lang="en-US" sz="800" dirty="0"/>
          </a:p>
          <a:p>
            <a:pPr algn="l" marL="342900" indent="-342900">
              <a:lnSpc>
                <a:spcPts val="1170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Dcycle / Manglai2.000–12.000 €/any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29175" y="3586163"/>
            <a:ext cx="367903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829175" y="3582591"/>
            <a:ext cx="3679031" cy="199717"/>
          </a:xfrm>
          <a:prstGeom prst="rect">
            <a:avLst/>
          </a:prstGeom>
          <a:noFill/>
          <a:ln/>
        </p:spPr>
        <p:txBody>
          <a:bodyPr wrap="none" lIns="0" tIns="71438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FORAT DE MERCAT DETECTAT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9175" y="3809740"/>
            <a:ext cx="3788759" cy="13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8A552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Cap servei cobreix </a:t>
            </a:r>
            <a:pPr algn="l" indent="0" marL="0">
              <a:lnSpc>
                <a:spcPts val="1025"/>
              </a:lnSpc>
              <a:buNone/>
            </a:pPr>
            <a:r>
              <a:rPr lang="en-US" sz="800" b="1" dirty="0">
                <a:solidFill>
                  <a:srgbClr val="8A552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Pimes</a:t>
            </a:r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8A55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amb preu &lt; 2.000 €/any.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175633"/>
            <a:ext cx="8229600" cy="471488"/>
          </a:xfrm>
          <a:prstGeom prst="roundRect">
            <a:avLst>
              <a:gd name="adj" fmla="val 12121"/>
            </a:avLst>
          </a:prstGeom>
          <a:solidFill>
            <a:srgbClr val="2C18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4363" y="4275646"/>
            <a:ext cx="271463" cy="271463"/>
          </a:xfrm>
          <a:prstGeom prst="ellipse">
            <a:avLst/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509" y="430779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C181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1014413" y="4331791"/>
            <a:ext cx="7515225" cy="171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928" i="1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Cap competidor fa </a:t>
            </a:r>
            <a:pPr algn="l" indent="0" marL="0">
              <a:lnSpc>
                <a:spcPts val="1253"/>
              </a:lnSpc>
              <a:buNone/>
            </a:pPr>
            <a:r>
              <a:rPr lang="en-US" sz="928" i="1" dirty="0">
                <a:solidFill>
                  <a:srgbClr val="D9A5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anàlisi crítica estructurada</a:t>
            </a:r>
            <a:pPr algn="l" indent="0" marL="0">
              <a:lnSpc>
                <a:spcPts val="1253"/>
              </a:lnSpc>
              <a:buNone/>
            </a:pPr>
            <a:r>
              <a:rPr lang="en-US" sz="928" i="1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amb cross-reference a certificacions.</a:t>
            </a:r>
            <a:endParaRPr lang="en-US" sz="928" dirty="0"/>
          </a:p>
        </p:txBody>
      </p:sp>
      <p:sp>
        <p:nvSpPr>
          <p:cNvPr id="29" name="Shape 27"/>
          <p:cNvSpPr/>
          <p:nvPr/>
        </p:nvSpPr>
        <p:spPr>
          <a:xfrm>
            <a:off x="457200" y="4750705"/>
            <a:ext cx="82296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25715"/>
            <a:ext cx="693792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·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09408" y="4837100"/>
            <a:ext cx="1277392" cy="137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Anàlisi de mercat · 05 / 10</a:t>
            </a:r>
            <a:endParaRPr lang="en-US" sz="6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15032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10747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NÍNXOL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36111" y="400050"/>
            <a:ext cx="99353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10 · Criteri ESG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514350" y="847204"/>
            <a:ext cx="8521065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 està el nostre nínxol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514350" y="1245022"/>
            <a:ext cx="342900" cy="21431"/>
          </a:xfrm>
          <a:prstGeom prst="rect">
            <a:avLst/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7922" y="1441475"/>
            <a:ext cx="3964781" cy="203864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1649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C8B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921544" y="1637928"/>
            <a:ext cx="3386138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COMPETEIX AMB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2944" y="1816522"/>
            <a:ext cx="3724466" cy="25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Agents que no són rivals directes</a:t>
            </a:r>
            <a:endParaRPr lang="en-US" sz="1238" dirty="0"/>
          </a:p>
        </p:txBody>
      </p:sp>
      <p:sp>
        <p:nvSpPr>
          <p:cNvPr id="11" name="Shape 9"/>
          <p:cNvSpPr/>
          <p:nvPr/>
        </p:nvSpPr>
        <p:spPr>
          <a:xfrm>
            <a:off x="692944" y="2322835"/>
            <a:ext cx="3614738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44" y="2096467"/>
            <a:ext cx="3614738" cy="288232"/>
          </a:xfrm>
          <a:prstGeom prst="rect">
            <a:avLst/>
          </a:prstGeom>
          <a:noFill/>
          <a:ln/>
        </p:spPr>
        <p:txBody>
          <a:bodyPr wrap="square" lIns="0" tIns="0" rIns="0" bIns="85725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Serveis que cobreixen necessitats diferents de la nostra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2944" y="2412132"/>
            <a:ext cx="3614738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81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EcoVadis — valora empreses, no informes</a:t>
            </a:r>
            <a:endParaRPr lang="en-US" sz="800" dirty="0"/>
          </a:p>
          <a:p>
            <a:pPr algn="l" marL="342900" indent="-342900">
              <a:lnSpc>
                <a:spcPts val="1181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MSCI / Sustainalytics — serveix inversors, no empreses</a:t>
            </a:r>
            <a:endParaRPr lang="en-US" sz="800" dirty="0"/>
          </a:p>
          <a:p>
            <a:pPr algn="l" marL="342900" indent="-342900">
              <a:lnSpc>
                <a:spcPts val="1181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Big Four — consultoria a mida per a grans comptes, 50.000€+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1297" y="1441475"/>
            <a:ext cx="3964781" cy="2038648"/>
          </a:xfrm>
          <a:prstGeom prst="roundRect">
            <a:avLst>
              <a:gd name="adj" fmla="val 3738"/>
            </a:avLst>
          </a:prstGeom>
          <a:solidFill>
            <a:srgbClr val="B87333">
              <a:alpha val="6000"/>
            </a:srgbClr>
          </a:solidFill>
          <a:ln w="7144">
            <a:solidFill>
              <a:srgbClr val="B87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6319" y="161649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7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5064919" y="1637928"/>
            <a:ext cx="3386138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 COMPETEIX AMB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36319" y="1816522"/>
            <a:ext cx="3724465" cy="25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Competència directa a reconèixer</a:t>
            </a:r>
            <a:endParaRPr lang="en-US" sz="1238" dirty="0"/>
          </a:p>
        </p:txBody>
      </p:sp>
      <p:sp>
        <p:nvSpPr>
          <p:cNvPr id="18" name="Shape 16"/>
          <p:cNvSpPr/>
          <p:nvPr/>
        </p:nvSpPr>
        <p:spPr>
          <a:xfrm>
            <a:off x="4836319" y="2322835"/>
            <a:ext cx="3614738" cy="0"/>
          </a:xfrm>
          <a:prstGeom prst="line">
            <a:avLst/>
          </a:prstGeom>
          <a:noFill/>
          <a:ln w="7144">
            <a:solidFill>
              <a:srgbClr val="B87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6319" y="2096467"/>
            <a:ext cx="3724465" cy="288232"/>
          </a:xfrm>
          <a:prstGeom prst="rect">
            <a:avLst/>
          </a:prstGeom>
          <a:noFill/>
          <a:ln/>
        </p:spPr>
        <p:txBody>
          <a:bodyPr wrap="square" lIns="0" tIns="0" rIns="0" bIns="85725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Contingut que avui ja consumeix el nostre públic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36319" y="2412132"/>
            <a:ext cx="3614738" cy="62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81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Forética — informes gratis sense anàlisi crítica</a:t>
            </a:r>
            <a:endParaRPr lang="en-US" sz="800" dirty="0"/>
          </a:p>
          <a:p>
            <a:pPr algn="l" marL="342900" indent="-342900">
              <a:lnSpc>
                <a:spcPts val="1181"/>
              </a:lnSpc>
              <a:buSzPct val="100000"/>
              <a:buChar char="•"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Newsletters diaris — notícies sense estructura ni accions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4350" y="3640857"/>
            <a:ext cx="8115300" cy="1066428"/>
          </a:xfrm>
          <a:prstGeom prst="roundRect">
            <a:avLst>
              <a:gd name="adj" fmla="val 7145"/>
            </a:avLst>
          </a:prstGeom>
          <a:solidFill>
            <a:srgbClr val="2C18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375" y="37980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87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1042988" y="3798019"/>
            <a:ext cx="7386638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D9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NOSTRA DIFERENCIACIÓ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42988" y="3955182"/>
            <a:ext cx="7386638" cy="38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Els altres donen </a:t>
            </a:r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D9A5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informació</a:t>
            </a:r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; nosaltres donem </a:t>
            </a:r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D9A5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. Semàfor Metodològic + Més enllà del Checkbox + accions + cross-reference. </a:t>
            </a:r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Ningú fa això a Espanya.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1042988" y="4368385"/>
            <a:ext cx="1081497" cy="192024"/>
          </a:xfrm>
          <a:prstGeom prst="roundRect">
            <a:avLst>
              <a:gd name="adj" fmla="val 491071"/>
            </a:avLst>
          </a:prstGeom>
          <a:solidFill>
            <a:srgbClr val="B8733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42988" y="4378672"/>
            <a:ext cx="10814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spc="56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SEMÀFOR METODOLÒGIC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81634" y="4368385"/>
            <a:ext cx="1231962" cy="192024"/>
          </a:xfrm>
          <a:prstGeom prst="roundRect">
            <a:avLst>
              <a:gd name="adj" fmla="val 491071"/>
            </a:avLst>
          </a:prstGeom>
          <a:solidFill>
            <a:srgbClr val="B8733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81634" y="4378672"/>
            <a:ext cx="12319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spc="56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MÉS ENLLÀ DEL CHECKBOX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0746" y="4368385"/>
            <a:ext cx="479747" cy="192024"/>
          </a:xfrm>
          <a:prstGeom prst="roundRect">
            <a:avLst>
              <a:gd name="adj" fmla="val 491071"/>
            </a:avLst>
          </a:prstGeom>
          <a:solidFill>
            <a:srgbClr val="B8733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32683" y="4378672"/>
            <a:ext cx="5558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spc="56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07644" y="4368385"/>
            <a:ext cx="880914" cy="192024"/>
          </a:xfrm>
          <a:prstGeom prst="roundRect">
            <a:avLst>
              <a:gd name="adj" fmla="val 491071"/>
            </a:avLst>
          </a:prstGeom>
          <a:solidFill>
            <a:srgbClr val="B8733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07644" y="4378672"/>
            <a:ext cx="8809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spc="56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CROSS-REFERENCE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15032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10747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36111" y="400050"/>
            <a:ext cx="99353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10 · Criteri ESG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514350" y="847204"/>
            <a:ext cx="862965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Potencial per segment (Any 3)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514350" y="1216447"/>
            <a:ext cx="8115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Projectcció realista basada en taxes de conversió per segment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17922" y="1648644"/>
            <a:ext cx="1925241" cy="210740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69" y="1839404"/>
            <a:ext cx="1432322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10978" y="18093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B87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10" name="Text 8"/>
          <p:cNvSpPr/>
          <p:nvPr/>
        </p:nvSpPr>
        <p:spPr>
          <a:xfrm>
            <a:off x="664369" y="2095128"/>
            <a:ext cx="1632347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3375" b="1" spc="-56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263</a:t>
            </a:r>
            <a:endParaRPr lang="en-US" sz="3375" dirty="0"/>
          </a:p>
        </p:txBody>
      </p:sp>
      <p:sp>
        <p:nvSpPr>
          <p:cNvPr id="11" name="Text 9"/>
          <p:cNvSpPr/>
          <p:nvPr/>
        </p:nvSpPr>
        <p:spPr>
          <a:xfrm>
            <a:off x="664369" y="2552328"/>
            <a:ext cx="1632347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4369" y="3033415"/>
            <a:ext cx="1632347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64369" y="2778026"/>
            <a:ext cx="1632347" cy="279678"/>
          </a:xfrm>
          <a:prstGeom prst="rect">
            <a:avLst/>
          </a:prstGeom>
          <a:noFill/>
          <a:ln/>
        </p:spPr>
        <p:txBody>
          <a:bodyPr wrap="none" lIns="0" tIns="0" rIns="0" bIns="100013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Certificacions ESG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664369" y="3319723"/>
            <a:ext cx="16323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/ ANY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4369" y="3436813"/>
            <a:ext cx="1632347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115.720€</a:t>
            </a:r>
            <a:pPr algn="l" indent="0" marL="0">
              <a:lnSpc>
                <a:spcPts val="1361"/>
              </a:lnSpc>
              <a:buNone/>
            </a:pPr>
            <a:r>
              <a:rPr lang="en-US" sz="800" b="1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/any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2578894" y="1648644"/>
            <a:ext cx="1925241" cy="210740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25341" y="1839404"/>
            <a:ext cx="1432322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71950" y="18093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B87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828" dirty="0"/>
          </a:p>
        </p:txBody>
      </p:sp>
      <p:sp>
        <p:nvSpPr>
          <p:cNvPr id="19" name="Text 17"/>
          <p:cNvSpPr/>
          <p:nvPr/>
        </p:nvSpPr>
        <p:spPr>
          <a:xfrm>
            <a:off x="2725341" y="2095128"/>
            <a:ext cx="1632347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3375" b="1" spc="-56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3375" dirty="0"/>
          </a:p>
        </p:txBody>
      </p:sp>
      <p:sp>
        <p:nvSpPr>
          <p:cNvPr id="20" name="Text 18"/>
          <p:cNvSpPr/>
          <p:nvPr/>
        </p:nvSpPr>
        <p:spPr>
          <a:xfrm>
            <a:off x="2725341" y="2552328"/>
            <a:ext cx="1632347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25341" y="3033415"/>
            <a:ext cx="1632347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725341" y="2778026"/>
            <a:ext cx="1632347" cy="279678"/>
          </a:xfrm>
          <a:prstGeom prst="rect">
            <a:avLst/>
          </a:prstGeom>
          <a:noFill/>
          <a:ln/>
        </p:spPr>
        <p:txBody>
          <a:bodyPr wrap="none" lIns="0" tIns="0" rIns="0" bIns="100013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CSRD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2725341" y="3319723"/>
            <a:ext cx="16323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/ ANY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25341" y="3436813"/>
            <a:ext cx="1632347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12.320€</a:t>
            </a:r>
            <a:pPr algn="l" indent="0" marL="0">
              <a:lnSpc>
                <a:spcPts val="1361"/>
              </a:lnSpc>
              <a:buNone/>
            </a:pPr>
            <a:r>
              <a:rPr lang="en-US" sz="800" b="1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/any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639866" y="1648644"/>
            <a:ext cx="1925241" cy="210740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6313" y="1839404"/>
            <a:ext cx="1432322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32922" y="18093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B87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828" dirty="0"/>
          </a:p>
        </p:txBody>
      </p:sp>
      <p:sp>
        <p:nvSpPr>
          <p:cNvPr id="28" name="Text 26"/>
          <p:cNvSpPr/>
          <p:nvPr/>
        </p:nvSpPr>
        <p:spPr>
          <a:xfrm>
            <a:off x="4786313" y="2095128"/>
            <a:ext cx="1632347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3375" b="1" spc="-56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280</a:t>
            </a:r>
            <a:endParaRPr lang="en-US" sz="3375" dirty="0"/>
          </a:p>
        </p:txBody>
      </p:sp>
      <p:sp>
        <p:nvSpPr>
          <p:cNvPr id="29" name="Text 27"/>
          <p:cNvSpPr/>
          <p:nvPr/>
        </p:nvSpPr>
        <p:spPr>
          <a:xfrm>
            <a:off x="4786313" y="2552328"/>
            <a:ext cx="1632347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86313" y="3033415"/>
            <a:ext cx="1632347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786313" y="2778026"/>
            <a:ext cx="1632347" cy="279678"/>
          </a:xfrm>
          <a:prstGeom prst="rect">
            <a:avLst/>
          </a:prstGeom>
          <a:noFill/>
          <a:ln/>
        </p:spPr>
        <p:txBody>
          <a:bodyPr wrap="none" lIns="0" tIns="0" rIns="0" bIns="100013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Professionals</a:t>
            </a:r>
            <a:endParaRPr lang="en-US" sz="956" dirty="0"/>
          </a:p>
        </p:txBody>
      </p:sp>
      <p:sp>
        <p:nvSpPr>
          <p:cNvPr id="32" name="Text 30"/>
          <p:cNvSpPr/>
          <p:nvPr/>
        </p:nvSpPr>
        <p:spPr>
          <a:xfrm>
            <a:off x="4786313" y="3319723"/>
            <a:ext cx="16323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/ ANY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86313" y="3436813"/>
            <a:ext cx="1632347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123.200€</a:t>
            </a:r>
            <a:pPr algn="l" indent="0" marL="0">
              <a:lnSpc>
                <a:spcPts val="1361"/>
              </a:lnSpc>
              <a:buNone/>
            </a:pPr>
            <a:r>
              <a:rPr lang="en-US" sz="800" b="1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/any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6700838" y="1648644"/>
            <a:ext cx="1925241" cy="210740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47284" y="1839404"/>
            <a:ext cx="1432322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93894" y="18093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B87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828" dirty="0"/>
          </a:p>
        </p:txBody>
      </p:sp>
      <p:sp>
        <p:nvSpPr>
          <p:cNvPr id="37" name="Text 35"/>
          <p:cNvSpPr/>
          <p:nvPr/>
        </p:nvSpPr>
        <p:spPr>
          <a:xfrm>
            <a:off x="6847284" y="2095128"/>
            <a:ext cx="1632347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3375" b="1" spc="-56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57</a:t>
            </a:r>
            <a:endParaRPr lang="en-US" sz="3375" dirty="0"/>
          </a:p>
        </p:txBody>
      </p:sp>
      <p:sp>
        <p:nvSpPr>
          <p:cNvPr id="38" name="Text 36"/>
          <p:cNvSpPr/>
          <p:nvPr/>
        </p:nvSpPr>
        <p:spPr>
          <a:xfrm>
            <a:off x="6847284" y="2552328"/>
            <a:ext cx="1632347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47284" y="3033415"/>
            <a:ext cx="1632347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847284" y="2778026"/>
            <a:ext cx="1632347" cy="279678"/>
          </a:xfrm>
          <a:prstGeom prst="rect">
            <a:avLst/>
          </a:prstGeom>
          <a:noFill/>
          <a:ln/>
        </p:spPr>
        <p:txBody>
          <a:bodyPr wrap="none" lIns="0" tIns="0" rIns="0" bIns="100013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Economia social</a:t>
            </a:r>
            <a:endParaRPr lang="en-US" sz="956" dirty="0"/>
          </a:p>
        </p:txBody>
      </p:sp>
      <p:sp>
        <p:nvSpPr>
          <p:cNvPr id="41" name="Text 39"/>
          <p:cNvSpPr/>
          <p:nvPr/>
        </p:nvSpPr>
        <p:spPr>
          <a:xfrm>
            <a:off x="6847284" y="3319723"/>
            <a:ext cx="16323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/ ANY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47284" y="3436813"/>
            <a:ext cx="1632347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25.080€</a:t>
            </a:r>
            <a:pPr algn="l" indent="0" marL="0">
              <a:lnSpc>
                <a:spcPts val="1361"/>
              </a:lnSpc>
              <a:buNone/>
            </a:pPr>
            <a:r>
              <a:rPr lang="en-US" sz="800" b="1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/any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514350" y="3916784"/>
            <a:ext cx="8115300" cy="611460"/>
          </a:xfrm>
          <a:prstGeom prst="roundRect">
            <a:avLst>
              <a:gd name="adj" fmla="val 12462"/>
            </a:avLst>
          </a:prstGeom>
          <a:solidFill>
            <a:srgbClr val="2C18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5800" y="4053967"/>
            <a:ext cx="357471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D9A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TOTAL ANY 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4196842"/>
            <a:ext cx="2723331" cy="20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628 subscriptors Premium</a:t>
            </a:r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· suma de tots els segments</a:t>
            </a:r>
            <a:endParaRPr lang="en-US" sz="956" dirty="0"/>
          </a:p>
        </p:txBody>
      </p:sp>
      <p:sp>
        <p:nvSpPr>
          <p:cNvPr id="46" name="Shape 44"/>
          <p:cNvSpPr/>
          <p:nvPr/>
        </p:nvSpPr>
        <p:spPr>
          <a:xfrm>
            <a:off x="7163730" y="4045372"/>
            <a:ext cx="0" cy="354285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8244" y="4045372"/>
            <a:ext cx="116046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D9A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276.320€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7338752" y="4273972"/>
            <a:ext cx="111944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619" spc="28" kern="0" dirty="0">
                <a:solidFill>
                  <a:srgbClr val="F5EFE6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anuals / any</a:t>
            </a:r>
            <a:endParaRPr lang="en-US" sz="6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15032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10747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ESCENARIS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36111" y="400050"/>
            <a:ext cx="99353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10 · Criteri ESG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514350" y="847204"/>
            <a:ext cx="8521065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Escenaris de creixement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514350" y="1216447"/>
            <a:ext cx="8629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 conservador a l'optimista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17922" y="1648644"/>
            <a:ext cx="2593181" cy="2208758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7231" y="1873672"/>
            <a:ext cx="42863" cy="42863"/>
          </a:xfrm>
          <a:prstGeom prst="roundRect">
            <a:avLst>
              <a:gd name="adj" fmla="val 66666"/>
            </a:avLst>
          </a:prstGeom>
          <a:solidFill>
            <a:srgbClr val="9C8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7231" y="1837953"/>
            <a:ext cx="221456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ESCENARI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7231" y="2023690"/>
            <a:ext cx="2214563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28" kern="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Conservador</a:t>
            </a:r>
            <a:endParaRPr lang="en-US" sz="1688" dirty="0"/>
          </a:p>
        </p:txBody>
      </p:sp>
      <p:sp>
        <p:nvSpPr>
          <p:cNvPr id="11" name="Shape 9"/>
          <p:cNvSpPr/>
          <p:nvPr/>
        </p:nvSpPr>
        <p:spPr>
          <a:xfrm>
            <a:off x="707231" y="2535808"/>
            <a:ext cx="2214563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7231" y="2280865"/>
            <a:ext cx="2214563" cy="330899"/>
          </a:xfrm>
          <a:prstGeom prst="rect">
            <a:avLst/>
          </a:prstGeom>
          <a:noFill/>
          <a:ln/>
        </p:spPr>
        <p:txBody>
          <a:bodyPr wrap="none" lIns="0" tIns="0" rIns="0" bIns="11430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Any 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7231" y="2696542"/>
            <a:ext cx="22145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SUBSCRIPTORS PREMIUM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7231" y="2839417"/>
            <a:ext cx="22145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28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200–400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707231" y="3189461"/>
            <a:ext cx="22145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/ ANY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7231" y="3332336"/>
            <a:ext cx="22145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28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88.000–176.000€</a:t>
            </a:r>
            <a:pPr algn="l" indent="0" marL="0">
              <a:lnSpc>
                <a:spcPts val="1856"/>
              </a:lnSpc>
              <a:buNone/>
            </a:pPr>
            <a:r>
              <a:rPr lang="en-US" sz="800" spc="-28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/any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3275409" y="1648644"/>
            <a:ext cx="2593181" cy="2208758"/>
          </a:xfrm>
          <a:prstGeom prst="roundRect">
            <a:avLst>
              <a:gd name="adj" fmla="val 4312"/>
            </a:avLst>
          </a:prstGeom>
          <a:solidFill>
            <a:srgbClr val="B87333">
              <a:alpha val="5000"/>
            </a:srgbClr>
          </a:solidFill>
          <a:ln w="7144">
            <a:solidFill>
              <a:srgbClr val="B87333"/>
            </a:solidFill>
            <a:prstDash val="solid"/>
          </a:ln>
          <a:effectLst>
            <a:outerShdw sx="100000" sy="100000" kx="0" ky="0" algn="bl" rotWithShape="0" blurRad="228600" dist="76200" dir="5400000">
              <a:srgbClr val="B87333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77692" y="1799781"/>
            <a:ext cx="550555" cy="179147"/>
          </a:xfrm>
          <a:prstGeom prst="roundRect">
            <a:avLst>
              <a:gd name="adj" fmla="val 21267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09292" y="1809378"/>
            <a:ext cx="630204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OBJECTIU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64719" y="1873672"/>
            <a:ext cx="42863" cy="42863"/>
          </a:xfrm>
          <a:prstGeom prst="roundRect">
            <a:avLst>
              <a:gd name="adj" fmla="val 66666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64719" y="1837953"/>
            <a:ext cx="221456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ESCENARI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64719" y="2023690"/>
            <a:ext cx="2214563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28" kern="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Realista</a:t>
            </a:r>
            <a:endParaRPr lang="en-US" sz="1688" dirty="0"/>
          </a:p>
        </p:txBody>
      </p:sp>
      <p:sp>
        <p:nvSpPr>
          <p:cNvPr id="23" name="Shape 21"/>
          <p:cNvSpPr/>
          <p:nvPr/>
        </p:nvSpPr>
        <p:spPr>
          <a:xfrm>
            <a:off x="3464719" y="2535808"/>
            <a:ext cx="2214563" cy="0"/>
          </a:xfrm>
          <a:prstGeom prst="line">
            <a:avLst/>
          </a:prstGeom>
          <a:noFill/>
          <a:ln w="7144">
            <a:solidFill>
              <a:srgbClr val="D9A57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464719" y="2280865"/>
            <a:ext cx="2214563" cy="330899"/>
          </a:xfrm>
          <a:prstGeom prst="rect">
            <a:avLst/>
          </a:prstGeom>
          <a:noFill/>
          <a:ln/>
        </p:spPr>
        <p:txBody>
          <a:bodyPr wrap="none" lIns="0" tIns="0" rIns="0" bIns="11430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Any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64719" y="2696542"/>
            <a:ext cx="22145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SUBSCRIPTORS PREMIUM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64719" y="2839417"/>
            <a:ext cx="22145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28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600+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3464719" y="3189461"/>
            <a:ext cx="22145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/ ANY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64719" y="3332336"/>
            <a:ext cx="22145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28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276.000€</a:t>
            </a:r>
            <a:pPr algn="l" indent="0" marL="0">
              <a:lnSpc>
                <a:spcPts val="1856"/>
              </a:lnSpc>
              <a:buNone/>
            </a:pPr>
            <a:r>
              <a:rPr lang="en-US" sz="800" spc="-28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/any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6032897" y="1648644"/>
            <a:ext cx="2593181" cy="2208758"/>
          </a:xfrm>
          <a:prstGeom prst="roundRect">
            <a:avLst>
              <a:gd name="adj" fmla="val 4312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2206" y="1873672"/>
            <a:ext cx="42863" cy="42863"/>
          </a:xfrm>
          <a:prstGeom prst="roundRect">
            <a:avLst>
              <a:gd name="adj" fmla="val 66666"/>
            </a:avLst>
          </a:prstGeom>
          <a:solidFill>
            <a:srgbClr val="9C8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22206" y="1837953"/>
            <a:ext cx="221456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ESCENARI 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22206" y="2023690"/>
            <a:ext cx="2214563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28" kern="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Optimista</a:t>
            </a:r>
            <a:endParaRPr lang="en-US" sz="1688" dirty="0"/>
          </a:p>
        </p:txBody>
      </p:sp>
      <p:sp>
        <p:nvSpPr>
          <p:cNvPr id="33" name="Shape 31"/>
          <p:cNvSpPr/>
          <p:nvPr/>
        </p:nvSpPr>
        <p:spPr>
          <a:xfrm>
            <a:off x="6222206" y="2535808"/>
            <a:ext cx="2214563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22206" y="2280865"/>
            <a:ext cx="2214563" cy="330899"/>
          </a:xfrm>
          <a:prstGeom prst="rect">
            <a:avLst/>
          </a:prstGeom>
          <a:noFill/>
          <a:ln/>
        </p:spPr>
        <p:txBody>
          <a:bodyPr wrap="none" lIns="0" tIns="0" rIns="0" bIns="11430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Any 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22206" y="2696542"/>
            <a:ext cx="22145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SUBSCRIPTORS PREMIUM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22206" y="2839417"/>
            <a:ext cx="22145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28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1.000–1.500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6222206" y="3189461"/>
            <a:ext cx="22145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INGRESSOS / ANY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22206" y="3332336"/>
            <a:ext cx="22145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28" kern="0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440.000–660.000€</a:t>
            </a:r>
            <a:pPr algn="l" indent="0" marL="0">
              <a:lnSpc>
                <a:spcPts val="1856"/>
              </a:lnSpc>
              <a:buNone/>
            </a:pPr>
            <a:r>
              <a:rPr lang="en-US" sz="800" spc="-28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/any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514350" y="4018136"/>
            <a:ext cx="8115300" cy="585788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14350" y="4021708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26078" y="4018136"/>
            <a:ext cx="0" cy="585788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4350" y="4600352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8638" y="4018136"/>
            <a:ext cx="0" cy="585788"/>
          </a:xfrm>
          <a:prstGeom prst="line">
            <a:avLst/>
          </a:prstGeom>
          <a:noFill/>
          <a:ln w="28575">
            <a:solidFill>
              <a:srgbClr val="B87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4375" y="4153867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47236" y="418672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B87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688" dirty="0"/>
          </a:p>
        </p:txBody>
      </p:sp>
      <p:sp>
        <p:nvSpPr>
          <p:cNvPr id="46" name="Text 44"/>
          <p:cNvSpPr/>
          <p:nvPr/>
        </p:nvSpPr>
        <p:spPr>
          <a:xfrm>
            <a:off x="2369827" y="4317504"/>
            <a:ext cx="6088373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(early bird , 50 places). ingressos llançament.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200150" y="4163913"/>
            <a:ext cx="7360634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56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ESTRATÈGIA DE PREUS · LLANÇAMENT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70577" y="4324648"/>
            <a:ext cx="832815" cy="11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Preu Premium: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888071" y="4317504"/>
            <a:ext cx="61664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440€/any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870113" y="4317504"/>
            <a:ext cx="61664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290€/any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924486" y="4324648"/>
            <a:ext cx="1229305" cy="11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2C181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early birds = </a:t>
            </a:r>
            <a:pPr algn="l" indent="0" marL="0">
              <a:lnSpc>
                <a:spcPts val="1221"/>
              </a:lnSpc>
              <a:buNone/>
            </a:pPr>
            <a:r>
              <a:rPr lang="en-US" sz="788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14.500€</a:t>
            </a:r>
            <a:endParaRPr lang="en-US" sz="7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15032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10747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36111" y="400050"/>
            <a:ext cx="99353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10 · Criteri ESG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514350" y="847204"/>
            <a:ext cx="8521065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Riscos i consideracions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514350" y="1216447"/>
            <a:ext cx="8629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que pot anar malament i com mitigar-ho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17922" y="1648644"/>
            <a:ext cx="3986213" cy="1393031"/>
          </a:xfrm>
          <a:prstGeom prst="roundRect">
            <a:avLst>
              <a:gd name="adj" fmla="val 5470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773659"/>
            <a:ext cx="39004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678656" y="2037978"/>
            <a:ext cx="4343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56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64419" y="18121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1250156" y="1795090"/>
            <a:ext cx="3093244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Competència gratis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1064419" y="2029383"/>
            <a:ext cx="3055962" cy="29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Forética i newsletters ofereixen contingut gratis. La diferenciació ha de ser evident des del primer contacte.</a:t>
            </a:r>
            <a:endParaRPr lang="en-US" sz="731" dirty="0"/>
          </a:p>
        </p:txBody>
      </p:sp>
      <p:sp>
        <p:nvSpPr>
          <p:cNvPr id="13" name="Shape 11"/>
          <p:cNvSpPr/>
          <p:nvPr/>
        </p:nvSpPr>
        <p:spPr>
          <a:xfrm>
            <a:off x="1064419" y="2363577"/>
            <a:ext cx="327898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64419" y="2360005"/>
            <a:ext cx="3278981" cy="252317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i="1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Comunicar el valor afegit (criteri + accions) ja des del primer email.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39866" y="1648644"/>
            <a:ext cx="3986213" cy="1393031"/>
          </a:xfrm>
          <a:prstGeom prst="roundRect">
            <a:avLst>
              <a:gd name="adj" fmla="val 5470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0600" y="1773659"/>
            <a:ext cx="39004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4800600" y="2037978"/>
            <a:ext cx="4343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56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86363" y="18121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5372100" y="1795090"/>
            <a:ext cx="3093244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Estimacions de conversió</a:t>
            </a:r>
            <a:endParaRPr lang="en-US" sz="1069" dirty="0"/>
          </a:p>
        </p:txBody>
      </p:sp>
      <p:sp>
        <p:nvSpPr>
          <p:cNvPr id="20" name="Text 18"/>
          <p:cNvSpPr/>
          <p:nvPr/>
        </p:nvSpPr>
        <p:spPr>
          <a:xfrm>
            <a:off x="5186363" y="2029383"/>
            <a:ext cx="2670311" cy="29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taxes ( ) són estimacions. Validar amb els primers .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5640660" y="2029383"/>
            <a:ext cx="57264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0,5%–15%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86363" y="2029383"/>
            <a:ext cx="3273573" cy="29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early birds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86363" y="2363577"/>
            <a:ext cx="327898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186363" y="2360005"/>
            <a:ext cx="3278981" cy="252317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i="1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Mecanisme de feedback continu amb els primers subscriptors.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17922" y="3177406"/>
            <a:ext cx="3986213" cy="1393031"/>
          </a:xfrm>
          <a:prstGeom prst="roundRect">
            <a:avLst>
              <a:gd name="adj" fmla="val 5470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8656" y="3302422"/>
            <a:ext cx="39004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678656" y="3566740"/>
            <a:ext cx="4343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56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64419" y="33409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1250156" y="3323853"/>
            <a:ext cx="3093244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Canvi regulatori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1064419" y="3558146"/>
            <a:ext cx="3028236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Omnibus I redueix CSRD de a empreses afectades.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59471" y="3558146"/>
            <a:ext cx="46116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11.700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00784" y="3558146"/>
            <a:ext cx="44737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5.500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64419" y="3748460"/>
            <a:ext cx="327898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064419" y="3744888"/>
            <a:ext cx="3278981" cy="252317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Diversificar segments: no dependre només de CSRD.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39866" y="3177406"/>
            <a:ext cx="3986213" cy="1393031"/>
          </a:xfrm>
          <a:prstGeom prst="roundRect">
            <a:avLst>
              <a:gd name="adj" fmla="val 5470"/>
            </a:avLst>
          </a:prstGeom>
          <a:solidFill>
            <a:srgbClr val="FFFFFF"/>
          </a:solidFill>
          <a:ln w="7144">
            <a:solidFill>
              <a:srgbClr val="C9B89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600" y="3302422"/>
            <a:ext cx="39004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56" kern="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4800600" y="3566740"/>
            <a:ext cx="4343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56" kern="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86363" y="33409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55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5372100" y="3323853"/>
            <a:ext cx="3093244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Mercat captiu vs lliure</a:t>
            </a:r>
            <a:endParaRPr lang="en-US" sz="1069" dirty="0"/>
          </a:p>
        </p:txBody>
      </p:sp>
      <p:sp>
        <p:nvSpPr>
          <p:cNvPr id="40" name="Text 38"/>
          <p:cNvSpPr/>
          <p:nvPr/>
        </p:nvSpPr>
        <p:spPr>
          <a:xfrm>
            <a:off x="5186363" y="3558146"/>
            <a:ext cx="3225626" cy="29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empreses CSRD (captiu) vs amb certificacions (lliure). Criteri ha de servir tots dos.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5186363" y="3558146"/>
            <a:ext cx="44737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5.500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68467" y="3558146"/>
            <a:ext cx="53237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25.000+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86363" y="3892339"/>
            <a:ext cx="3278981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5186363" y="3888767"/>
            <a:ext cx="3278981" cy="252317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i="1" dirty="0">
                <a:solidFill>
                  <a:srgbClr val="9C8B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Oferta en dues línies: compliment CSRD i maduresa ESG.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4350" y="4716884"/>
            <a:ext cx="8115300" cy="614251"/>
          </a:xfrm>
          <a:prstGeom prst="roundRect">
            <a:avLst>
              <a:gd name="adj" fmla="val 12405"/>
            </a:avLst>
          </a:prstGeom>
          <a:solidFill>
            <a:srgbClr val="2C18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1513" y="494537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47" name="Text 45"/>
          <p:cNvSpPr/>
          <p:nvPr/>
        </p:nvSpPr>
        <p:spPr>
          <a:xfrm>
            <a:off x="1000125" y="4887330"/>
            <a:ext cx="518195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D9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 DE RISC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00125" y="5015917"/>
            <a:ext cx="4056422" cy="12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F5EFE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fronts oberts · </a:t>
            </a:r>
            <a:pPr algn="l" indent="0" marL="0">
              <a:lnSpc>
                <a:spcPts val="1139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cap és bloquejant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si es mitiguen amb disciplina i lectura contínua del mercat.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7383400" y="4852615"/>
            <a:ext cx="1089087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D9A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/ 4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7383400" y="5105437"/>
            <a:ext cx="10890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b="1" spc="56" kern="0" dirty="0">
                <a:solidFill>
                  <a:srgbClr val="F5EFE6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FRONTS MONITORITZATS</a:t>
            </a:r>
            <a:endParaRPr lang="en-US" sz="61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57882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42900"/>
            <a:ext cx="710747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PRÒXIMS PASSOS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36111" y="342900"/>
            <a:ext cx="99353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10 · Criteri ESG</a:t>
            </a:r>
            <a:endParaRPr lang="en-US" sz="619" dirty="0"/>
          </a:p>
        </p:txBody>
      </p:sp>
      <p:sp>
        <p:nvSpPr>
          <p:cNvPr id="5" name="Text 3"/>
          <p:cNvSpPr/>
          <p:nvPr/>
        </p:nvSpPr>
        <p:spPr>
          <a:xfrm>
            <a:off x="514350" y="790054"/>
            <a:ext cx="8521065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Cap al llançament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514350" y="1187872"/>
            <a:ext cx="342900" cy="21431"/>
          </a:xfrm>
          <a:prstGeom prst="rect">
            <a:avLst/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3014886"/>
            <a:ext cx="4218384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14350" y="1452190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145219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28688" y="1480765"/>
            <a:ext cx="370403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LLANÇAMENT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28688" y="174910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8688" y="2146027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8688" y="2542952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8688" y="1623640"/>
            <a:ext cx="418133" cy="1316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Setembre amb ( 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28688" y="174910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90834" y="1749103"/>
            <a:ext cx="3328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28688" y="2146027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9887" y="2146027"/>
            <a:ext cx="8747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early birds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28688" y="2542952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0537" y="2542952"/>
            <a:ext cx="5534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290€/any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4350" y="3533254"/>
            <a:ext cx="4218384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14350" y="316133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4350" y="316133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28688" y="3189908"/>
            <a:ext cx="370403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VALIDACIÓ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28688" y="3318495"/>
            <a:ext cx="3813762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Validar conversió amb els primers subscriptors.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051622"/>
            <a:ext cx="4218384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14350" y="3679701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4350" y="367970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28688" y="3708276"/>
            <a:ext cx="370403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ROSER · TÈCNIC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28688" y="3836863"/>
            <a:ext cx="3704034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Implementar crawler + API + dashboard admin + formulari Fiare.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4350" y="4569991"/>
            <a:ext cx="4218384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14350" y="4198069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4350" y="419806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8688" y="4226644"/>
            <a:ext cx="370403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PAOLO · OPERATIU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28688" y="4355232"/>
            <a:ext cx="3704034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Obrir compte Fiare, configurar Stripe, registre OEPM.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4350" y="4716438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4350" y="471643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8688" y="4745013"/>
            <a:ext cx="4731788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8A55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OBJECTIU ANY 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28688" y="4873600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28688" y="5270525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28688" y="5145063"/>
            <a:ext cx="52131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Premium · 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28688" y="4873600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01024" y="4873600"/>
            <a:ext cx="31250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600+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28688" y="5270525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B8733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2066" y="5270525"/>
            <a:ext cx="8304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B87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276.000€/any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61334" y="1380753"/>
            <a:ext cx="3668204" cy="4358134"/>
          </a:xfrm>
          <a:prstGeom prst="roundRect">
            <a:avLst>
              <a:gd name="adj" fmla="val 3116"/>
            </a:avLst>
          </a:prstGeom>
          <a:solidFill>
            <a:srgbClr val="2C18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161359" y="5235253"/>
            <a:ext cx="3268154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4350" y="4791335"/>
            <a:ext cx="8115300" cy="0"/>
          </a:xfrm>
          <a:prstGeom prst="line">
            <a:avLst/>
          </a:prstGeom>
          <a:noFill/>
          <a:ln w="7144">
            <a:solidFill>
              <a:srgbClr val="C9B8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4350" y="4866345"/>
            <a:ext cx="75636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·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2C181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 — Anàlisi de mercat i potencial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92306" y="4883423"/>
            <a:ext cx="537344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spc="84" kern="0" dirty="0">
                <a:solidFill>
                  <a:srgbClr val="9C8B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FI·10 / 10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161359" y="1602209"/>
            <a:ext cx="3096704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D9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MISSATGE DE TANCAMENT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72351" y="158077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A5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53" name="Text 51"/>
          <p:cNvSpPr/>
          <p:nvPr/>
        </p:nvSpPr>
        <p:spPr>
          <a:xfrm>
            <a:off x="5161359" y="3090565"/>
            <a:ext cx="3268154" cy="851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spc="-28" kern="0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 </a:t>
            </a:r>
            <a:pPr algn="l" indent="0" marL="0">
              <a:lnSpc>
                <a:spcPts val="2070"/>
              </a:lnSpc>
              <a:buNone/>
            </a:pPr>
            <a:r>
              <a:rPr lang="en-US" sz="1800" spc="-28" kern="0" dirty="0">
                <a:solidFill>
                  <a:srgbClr val="D9A5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</a:t>
            </a:r>
            <a:endParaRPr lang="en-US" sz="1800" dirty="0"/>
          </a:p>
          <a:p>
            <a:pPr algn="l" indent="0" marL="0">
              <a:lnSpc>
                <a:spcPts val="2070"/>
              </a:lnSpc>
              <a:buNone/>
            </a:pPr>
            <a:r>
              <a:rPr lang="en-US" sz="1800" i="1" spc="-28" kern="0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El teu criteri</a:t>
            </a:r>
            <a:endParaRPr lang="en-US" sz="1800" dirty="0"/>
          </a:p>
          <a:p>
            <a:pPr algn="l" indent="0" marL="0">
              <a:lnSpc>
                <a:spcPts val="2070"/>
              </a:lnSpc>
              <a:buNone/>
            </a:pPr>
            <a:r>
              <a:rPr lang="en-US" sz="1800" spc="-28" kern="0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 decidir bé.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161359" y="5361719"/>
            <a:ext cx="180323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Criteri</a:t>
            </a:r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B873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·</a:t>
            </a:r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F5EF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ESG</a:t>
            </a:r>
            <a:endParaRPr lang="en-US" sz="1013" dirty="0"/>
          </a:p>
        </p:txBody>
      </p:sp>
      <p:sp>
        <p:nvSpPr>
          <p:cNvPr id="55" name="Text 53"/>
          <p:cNvSpPr/>
          <p:nvPr/>
        </p:nvSpPr>
        <p:spPr>
          <a:xfrm>
            <a:off x="6978886" y="5338837"/>
            <a:ext cx="14506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D9A574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 CRITERI ESG</a:t>
            </a:r>
            <a:endParaRPr lang="en-US" sz="800" dirty="0"/>
          </a:p>
          <a:p>
            <a:pPr algn="r" indent="0" marL="0">
              <a:lnSpc>
                <a:spcPts val="900"/>
              </a:lnSpc>
              <a:buNone/>
            </a:pPr>
            <a:r>
              <a:rPr lang="en-US" sz="800" spc="84" kern="0" dirty="0">
                <a:solidFill>
                  <a:srgbClr val="D9A574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PAOLO + ROSER · JULIOL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2026-07-08T13:10:17Z</dcterms:created>
  <dcterms:modified xsi:type="dcterms:W3CDTF">2026-07-08T13:10:17Z</dcterms:modified>
</cp:coreProperties>
</file>